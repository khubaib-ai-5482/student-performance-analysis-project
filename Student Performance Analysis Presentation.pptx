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CF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>
          <a:xfrm>
            <a:off x="3551207" y="1122363"/>
            <a:ext cx="5736567" cy="2315714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>
          <a:xfrm>
            <a:off x="3723735" y="3602038"/>
            <a:ext cx="5564038" cy="1655762"/>
          </a:xfrm>
        </p:spPr>
        <p:txBody>
          <a:bodyPr/>
          <a:lstStyle/>
          <a:p>
            <a:endParaRPr lang="en-GB"/>
          </a:p>
        </p:txBody>
      </p:sp>
      <p:grpSp>
        <p:nvGrpSpPr>
          <p:cNvPr id="10" name="Group 9"/>
          <p:cNvGrpSpPr/>
          <p:nvPr/>
        </p:nvGrpSpPr>
        <p:grpSpPr>
          <a:xfrm>
            <a:off x="1833113" y="326366"/>
            <a:ext cx="8520019" cy="6323640"/>
            <a:chOff x="1915065" y="326366"/>
            <a:chExt cx="8520019" cy="6323640"/>
          </a:xfrm>
        </p:grpSpPr>
        <p:sp>
          <p:nvSpPr>
            <p:cNvPr id="4" name="Rectangle: Rounded Corners 3"/>
            <p:cNvSpPr/>
            <p:nvPr/>
          </p:nvSpPr>
          <p:spPr>
            <a:xfrm>
              <a:off x="1915065" y="329722"/>
              <a:ext cx="8520019" cy="6320284"/>
            </a:xfrm>
            <a:prstGeom prst="roundRect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err="1"/>
                <a:t>hhhhjhj</a:t>
              </a:r>
              <a:endParaRPr lang="en-GB" err="1"/>
            </a:p>
          </p:txBody>
        </p:sp>
        <p:sp>
          <p:nvSpPr>
            <p:cNvPr id="5" name="Rectangle: Rounded Corners 4"/>
            <p:cNvSpPr/>
            <p:nvPr/>
          </p:nvSpPr>
          <p:spPr>
            <a:xfrm>
              <a:off x="2511248" y="1753721"/>
              <a:ext cx="7154171" cy="4508735"/>
            </a:xfrm>
            <a:prstGeom prst="roundRect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Graphic 6" descr="Bullseye with solid fill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51255" y="326366"/>
              <a:ext cx="1446361" cy="140322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752146" y="2283442"/>
              <a:ext cx="1046672" cy="72226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l"/>
              <a:r>
                <a:rPr lang="en-GB" sz="4000" dirty="0">
                  <a:solidFill>
                    <a:schemeClr val="bg1"/>
                  </a:solidFill>
                  <a:latin typeface="Comic Sans MS" panose="030F0702030302020204"/>
                </a:rPr>
                <a:t>01</a:t>
              </a:r>
              <a:endParaRPr lang="en-GB" sz="4000" dirty="0">
                <a:solidFill>
                  <a:schemeClr val="bg1"/>
                </a:solidFill>
                <a:latin typeface="Comic Sans MS" panose="030F0702030302020204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41603" y="2840327"/>
              <a:ext cx="6625086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r>
                <a:rPr lang="en-GB" sz="3200" dirty="0">
                  <a:solidFill>
                    <a:schemeClr val="bg1"/>
                  </a:solidFill>
                  <a:latin typeface="Aptos ExtraBold"/>
                  <a:ea typeface="+mn-lt"/>
                  <a:cs typeface="+mn-lt"/>
                </a:rPr>
                <a:t>Student </a:t>
              </a:r>
              <a:r>
                <a:rPr lang="en-GB" sz="3600" dirty="0">
                  <a:solidFill>
                    <a:schemeClr val="bg1"/>
                  </a:solidFill>
                  <a:latin typeface="Aptos ExtraBold"/>
                  <a:ea typeface="+mn-lt"/>
                  <a:cs typeface="+mn-lt"/>
                </a:rPr>
                <a:t>Performance</a:t>
              </a:r>
              <a:r>
                <a:rPr lang="en-GB" sz="3200" dirty="0">
                  <a:solidFill>
                    <a:schemeClr val="bg1"/>
                  </a:solidFill>
                  <a:latin typeface="Aptos ExtraBold"/>
                  <a:ea typeface="+mn-lt"/>
                  <a:cs typeface="+mn-lt"/>
                </a:rPr>
                <a:t> Analysis</a:t>
              </a:r>
              <a:endParaRPr lang="en-US" dirty="0">
                <a:solidFill>
                  <a:schemeClr val="bg1"/>
                </a:solidFill>
                <a:latin typeface="Aptos ExtraBold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62691" y="3485391"/>
              <a:ext cx="6826367" cy="258532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r>
                <a:rPr lang="en-GB" sz="2000" b="1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Arial" panose="020B0604020202020204"/>
                </a:rPr>
                <a:t>Attendance &amp; Study Hours Impact on Fail Rate</a:t>
              </a:r>
              <a:endParaRPr lang="en-US" sz="2000" b="1">
                <a:solidFill>
                  <a:schemeClr val="bg1"/>
                </a:solidFill>
                <a:latin typeface="Century Gothic" panose="020B0502020202020204"/>
                <a:ea typeface="+mn-lt"/>
                <a:cs typeface="Arial" panose="020B0604020202020204"/>
              </a:endParaRPr>
            </a:p>
            <a:p>
              <a:r>
                <a:rPr lang="en-GB" sz="2000" b="1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Arial" panose="020B0604020202020204"/>
                </a:rPr>
                <a:t>Total Students:</a:t>
              </a:r>
              <a:r>
                <a:rPr lang="en-GB" sz="2000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Arial" panose="020B0604020202020204"/>
                </a:rPr>
                <a:t> 1200</a:t>
              </a:r>
              <a:endParaRPr lang="en-GB" sz="2000" dirty="0">
                <a:solidFill>
                  <a:schemeClr val="bg1"/>
                </a:solidFill>
                <a:latin typeface="Century Gothic" panose="020B0502020202020204"/>
                <a:ea typeface="+mn-lt"/>
                <a:cs typeface="Arial" panose="020B0604020202020204"/>
              </a:endParaRPr>
            </a:p>
            <a:p>
              <a:r>
                <a:rPr lang="en-GB" sz="2000" b="1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Arial" panose="020B0604020202020204"/>
                </a:rPr>
                <a:t>Passed:</a:t>
              </a:r>
              <a:r>
                <a:rPr lang="en-GB" sz="2000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Arial" panose="020B0604020202020204"/>
                </a:rPr>
                <a:t> 995,</a:t>
              </a:r>
              <a:endParaRPr lang="en-GB" sz="2000" dirty="0">
                <a:solidFill>
                  <a:schemeClr val="bg1"/>
                </a:solidFill>
                <a:latin typeface="Century Gothic" panose="020B0502020202020204"/>
                <a:ea typeface="+mn-lt"/>
                <a:cs typeface="Arial" panose="020B0604020202020204"/>
              </a:endParaRPr>
            </a:p>
            <a:p>
              <a:r>
                <a:rPr lang="en-GB" sz="2000" b="1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Arial" panose="020B0604020202020204"/>
                </a:rPr>
                <a:t>Failed:</a:t>
              </a:r>
              <a:r>
                <a:rPr lang="en-GB" sz="2000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Arial" panose="020B0604020202020204"/>
                </a:rPr>
                <a:t> 205</a:t>
              </a:r>
              <a:endParaRPr lang="en-GB">
                <a:solidFill>
                  <a:schemeClr val="bg1"/>
                </a:solidFill>
              </a:endParaRPr>
            </a:p>
            <a:p>
              <a:r>
                <a:rPr lang="en-GB" sz="2000" b="1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Arial" panose="020B0604020202020204"/>
                </a:rPr>
                <a:t>Overall Fail Rate:</a:t>
              </a:r>
              <a:r>
                <a:rPr lang="en-GB" sz="2000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Arial" panose="020B0604020202020204"/>
                </a:rPr>
                <a:t> 17.08%</a:t>
              </a:r>
              <a:endParaRPr lang="en-GB" sz="2000" dirty="0">
                <a:solidFill>
                  <a:schemeClr val="bg1"/>
                </a:solidFill>
                <a:latin typeface="Century Gothic" panose="020B0502020202020204"/>
                <a:ea typeface="+mn-lt"/>
                <a:cs typeface="Arial" panose="020B0604020202020204"/>
              </a:endParaRPr>
            </a:p>
            <a:p>
              <a:r>
                <a:rPr lang="en-GB" sz="2000" b="1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Arial" panose="020B0604020202020204"/>
                </a:rPr>
                <a:t>Focus:</a:t>
              </a:r>
              <a:r>
                <a:rPr lang="en-GB" sz="2000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Arial" panose="020B0604020202020204"/>
                </a:rPr>
                <a:t> Identify high-risk students</a:t>
              </a:r>
              <a:endParaRPr lang="en-GB" sz="2000" dirty="0">
                <a:solidFill>
                  <a:schemeClr val="bg1"/>
                </a:solidFill>
                <a:latin typeface="Century Gothic" panose="020B0502020202020204"/>
                <a:ea typeface="+mn-lt"/>
                <a:cs typeface="Arial" panose="020B0604020202020204"/>
              </a:endParaRPr>
            </a:p>
            <a:p>
              <a:pPr>
                <a:buFont typeface="Arial" panose="020B0604020202020204"/>
                <a:buChar char="•"/>
              </a:pPr>
              <a:endParaRPr lang="en-GB"/>
            </a:p>
            <a:p>
              <a:pPr>
                <a:buFont typeface="Arial" panose="020B0604020202020204"/>
                <a:buChar char="•"/>
              </a:pPr>
              <a:endParaRPr lang="en-GB" sz="2400" dirty="0">
                <a:solidFill>
                  <a:schemeClr val="bg1"/>
                </a:solidFill>
                <a:latin typeface="Calibri" panose="020F0502020204030204"/>
                <a:ea typeface="Calibri" panose="020F0502020204030204"/>
                <a:cs typeface="Calibri" panose="020F0502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>
          <a:xfrm>
            <a:off x="3551207" y="1122363"/>
            <a:ext cx="5736567" cy="2315714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>
          <a:xfrm>
            <a:off x="3723735" y="3602038"/>
            <a:ext cx="5564038" cy="1655762"/>
          </a:xfrm>
        </p:spPr>
        <p:txBody>
          <a:bodyPr/>
          <a:lstStyle/>
          <a:p>
            <a:endParaRPr lang="en-GB"/>
          </a:p>
        </p:txBody>
      </p:sp>
      <p:grpSp>
        <p:nvGrpSpPr>
          <p:cNvPr id="10" name="Group 9"/>
          <p:cNvGrpSpPr/>
          <p:nvPr/>
        </p:nvGrpSpPr>
        <p:grpSpPr>
          <a:xfrm>
            <a:off x="1828801" y="268857"/>
            <a:ext cx="8520019" cy="6323640"/>
            <a:chOff x="1915065" y="326366"/>
            <a:chExt cx="8520019" cy="6323640"/>
          </a:xfrm>
        </p:grpSpPr>
        <p:sp>
          <p:nvSpPr>
            <p:cNvPr id="4" name="Rectangle: Rounded Corners 3"/>
            <p:cNvSpPr/>
            <p:nvPr/>
          </p:nvSpPr>
          <p:spPr>
            <a:xfrm>
              <a:off x="1915065" y="329722"/>
              <a:ext cx="8520019" cy="6320284"/>
            </a:xfrm>
            <a:prstGeom prst="roundRect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err="1"/>
                <a:t>hhhhjhj</a:t>
              </a:r>
              <a:endParaRPr lang="en-GB" err="1"/>
            </a:p>
          </p:txBody>
        </p:sp>
        <p:sp>
          <p:nvSpPr>
            <p:cNvPr id="5" name="Rectangle: Rounded Corners 4"/>
            <p:cNvSpPr/>
            <p:nvPr/>
          </p:nvSpPr>
          <p:spPr>
            <a:xfrm>
              <a:off x="2511248" y="1753721"/>
              <a:ext cx="7154171" cy="4508735"/>
            </a:xfrm>
            <a:prstGeom prst="roundRect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7" name="Graphic 6" descr="Bullseye with solid fill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351255" y="326366"/>
              <a:ext cx="1446361" cy="1403229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2565241" y="2139668"/>
              <a:ext cx="1247955" cy="70788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 algn="ctr"/>
              <a:r>
                <a:rPr lang="en-GB" sz="4000" dirty="0">
                  <a:solidFill>
                    <a:schemeClr val="bg1"/>
                  </a:solidFill>
                  <a:latin typeface="Comic Sans MS" panose="030F0702030302020204"/>
                </a:rPr>
                <a:t>02</a:t>
              </a:r>
              <a:endParaRPr lang="en-GB" sz="4000" dirty="0">
                <a:solidFill>
                  <a:schemeClr val="bg1"/>
                </a:solidFill>
                <a:latin typeface="Comic Sans MS" panose="030F0702030302020204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712850" y="2782818"/>
              <a:ext cx="6941387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r>
                <a:rPr lang="en-GB" sz="3600" dirty="0">
                  <a:solidFill>
                    <a:schemeClr val="bg1"/>
                  </a:solidFill>
                  <a:latin typeface="Aptos ExtraBold"/>
                  <a:ea typeface="+mn-lt"/>
                  <a:cs typeface="+mn-lt"/>
                </a:rPr>
                <a:t>Overall Performance</a:t>
              </a:r>
              <a:endParaRPr lang="en-US" sz="3600" dirty="0">
                <a:solidFill>
                  <a:schemeClr val="bg1"/>
                </a:solidFill>
                <a:latin typeface="Aptos ExtraBold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48313" y="3471014"/>
              <a:ext cx="6840744" cy="29238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r>
                <a:rPr lang="en-GB" sz="2000" b="1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+mn-lt"/>
                </a:rPr>
                <a:t>Total Students:</a:t>
              </a:r>
              <a:r>
                <a:rPr lang="en-GB" sz="2000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+mn-lt"/>
                </a:rPr>
                <a:t> 1200</a:t>
              </a:r>
              <a:endParaRPr lang="en-US" sz="2000">
                <a:solidFill>
                  <a:schemeClr val="bg1"/>
                </a:solidFill>
                <a:latin typeface="Century Gothic" panose="020B0502020202020204"/>
              </a:endParaRPr>
            </a:p>
            <a:p>
              <a:r>
                <a:rPr lang="en-GB" sz="2000" b="1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+mn-lt"/>
                </a:rPr>
                <a:t>Passed Students:</a:t>
              </a:r>
              <a:r>
                <a:rPr lang="en-GB" sz="2000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+mn-lt"/>
                </a:rPr>
                <a:t> 995</a:t>
              </a:r>
              <a:endParaRPr lang="en-GB" sz="2000">
                <a:solidFill>
                  <a:schemeClr val="bg1"/>
                </a:solidFill>
                <a:latin typeface="Century Gothic" panose="020B0502020202020204"/>
              </a:endParaRPr>
            </a:p>
            <a:p>
              <a:r>
                <a:rPr lang="en-GB" sz="2000" b="1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+mn-lt"/>
                </a:rPr>
                <a:t>Failed Students: </a:t>
              </a:r>
              <a:r>
                <a:rPr lang="en-GB" sz="2000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+mn-lt"/>
                </a:rPr>
                <a:t>205</a:t>
              </a:r>
              <a:endParaRPr lang="en-GB" sz="2000">
                <a:solidFill>
                  <a:schemeClr val="bg1"/>
                </a:solidFill>
                <a:latin typeface="Century Gothic" panose="020B0502020202020204"/>
              </a:endParaRPr>
            </a:p>
            <a:p>
              <a:r>
                <a:rPr lang="en-GB" sz="2000" b="1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+mn-lt"/>
                </a:rPr>
                <a:t>Overall Fail Rate:</a:t>
              </a:r>
              <a:r>
                <a:rPr lang="en-GB" sz="2000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+mn-lt"/>
                </a:rPr>
                <a:t> 17.08%</a:t>
              </a:r>
              <a:endParaRPr lang="en-GB" sz="2000">
                <a:solidFill>
                  <a:schemeClr val="bg1"/>
                </a:solidFill>
                <a:latin typeface="Century Gothic" panose="020B0502020202020204"/>
              </a:endParaRPr>
            </a:p>
            <a:p>
              <a:r>
                <a:rPr lang="en-GB" sz="2000" b="1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+mn-lt"/>
                </a:rPr>
                <a:t>Key factor affecting performance:</a:t>
              </a:r>
              <a:r>
                <a:rPr lang="en-GB" sz="2000" dirty="0">
                  <a:solidFill>
                    <a:schemeClr val="bg1"/>
                  </a:solidFill>
                  <a:latin typeface="Century Gothic" panose="020B0502020202020204"/>
                  <a:ea typeface="+mn-lt"/>
                  <a:cs typeface="+mn-lt"/>
                </a:rPr>
                <a:t> Attendance &amp; Study Hours</a:t>
              </a:r>
              <a:endParaRPr lang="en-GB" sz="2000" dirty="0">
                <a:solidFill>
                  <a:schemeClr val="bg1"/>
                </a:solidFill>
                <a:latin typeface="Century Gothic" panose="020B0502020202020204"/>
              </a:endParaRPr>
            </a:p>
            <a:p>
              <a:endParaRPr lang="en-GB" sz="2400" dirty="0">
                <a:solidFill>
                  <a:schemeClr val="bg1"/>
                </a:solidFill>
                <a:latin typeface="Century Gothic" panose="020B0502020202020204"/>
              </a:endParaRPr>
            </a:p>
            <a:p>
              <a:pPr marL="285750" indent="-285750">
                <a:buFont typeface="Arial" panose="020B0604020202020204"/>
                <a:buChar char="•"/>
              </a:pPr>
              <a:endParaRPr lang="en-GB" sz="2000" dirty="0">
                <a:solidFill>
                  <a:schemeClr val="bg1"/>
                </a:solidFill>
              </a:endParaRPr>
            </a:p>
            <a:p>
              <a:endParaRPr lang="en-GB" sz="2000" dirty="0">
                <a:solidFill>
                  <a:schemeClr val="bg1"/>
                </a:solidFill>
                <a:latin typeface="Batang"/>
                <a:ea typeface="Batang"/>
                <a:cs typeface="Angsana New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>
          <a:xfrm>
            <a:off x="3551207" y="1122363"/>
            <a:ext cx="5736567" cy="2315714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>
          <a:xfrm>
            <a:off x="3723735" y="3602038"/>
            <a:ext cx="5564038" cy="1655762"/>
          </a:xfrm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/>
          <p:cNvSpPr/>
          <p:nvPr/>
        </p:nvSpPr>
        <p:spPr>
          <a:xfrm>
            <a:off x="1915065" y="329722"/>
            <a:ext cx="8520019" cy="6320284"/>
          </a:xfrm>
          <a:prstGeom prst="roundRect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/>
              <a:t>hhhhjhj</a:t>
            </a:r>
            <a:endParaRPr lang="en-GB" err="1"/>
          </a:p>
        </p:txBody>
      </p:sp>
      <p:sp>
        <p:nvSpPr>
          <p:cNvPr id="5" name="Rectangle: Rounded Corners 4"/>
          <p:cNvSpPr/>
          <p:nvPr/>
        </p:nvSpPr>
        <p:spPr>
          <a:xfrm>
            <a:off x="2511248" y="1753721"/>
            <a:ext cx="7154171" cy="4508735"/>
          </a:xfrm>
          <a:prstGeom prst="roundRect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Bullseye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1255" y="326366"/>
            <a:ext cx="1446361" cy="1403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95278" y="2139668"/>
            <a:ext cx="1046672" cy="7222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sz="4000" dirty="0">
                <a:solidFill>
                  <a:schemeClr val="bg1"/>
                </a:solidFill>
                <a:latin typeface="Comic Sans MS" panose="030F0702030302020204"/>
              </a:rPr>
              <a:t>03</a:t>
            </a:r>
            <a:endParaRPr lang="en-GB" sz="4000" dirty="0">
              <a:solidFill>
                <a:schemeClr val="bg1"/>
              </a:solidFill>
              <a:latin typeface="Comic Sans MS" panose="030F07020303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70358" y="2854704"/>
            <a:ext cx="666821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Aptos ExtraBold"/>
                <a:ea typeface="+mn-lt"/>
                <a:cs typeface="+mn-lt"/>
              </a:rPr>
              <a:t>Attendance vs Fail Rate</a:t>
            </a:r>
            <a:endParaRPr lang="en-US" dirty="0">
              <a:solidFill>
                <a:schemeClr val="bg1"/>
              </a:solidFill>
              <a:latin typeface="Aptos Extra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91445" y="3442259"/>
            <a:ext cx="6826367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Century Gothic" panose="020B0502020202020204"/>
                <a:ea typeface="+mn-lt"/>
                <a:cs typeface="+mn-lt"/>
              </a:rPr>
              <a:t>High Attendance (&gt;80%):</a:t>
            </a:r>
            <a:r>
              <a:rPr lang="en-GB" dirty="0">
                <a:solidFill>
                  <a:schemeClr val="bg1"/>
                </a:solidFill>
                <a:latin typeface="Century Gothic" panose="020B0502020202020204"/>
                <a:ea typeface="+mn-lt"/>
                <a:cs typeface="+mn-lt"/>
              </a:rPr>
              <a:t> 421 students, Fail Rate 11.6%</a:t>
            </a:r>
            <a:endParaRPr lang="en-US">
              <a:solidFill>
                <a:schemeClr val="bg1"/>
              </a:solidFill>
              <a:latin typeface="Century Gothic" panose="020B0502020202020204"/>
            </a:endParaRPr>
          </a:p>
          <a:p>
            <a:r>
              <a:rPr lang="en-GB" b="1" dirty="0">
                <a:solidFill>
                  <a:schemeClr val="bg1"/>
                </a:solidFill>
                <a:latin typeface="Century Gothic" panose="020B0502020202020204"/>
                <a:ea typeface="+mn-lt"/>
                <a:cs typeface="+mn-lt"/>
              </a:rPr>
              <a:t>Average Attendance (60–80%):</a:t>
            </a:r>
            <a:r>
              <a:rPr lang="en-GB" dirty="0">
                <a:solidFill>
                  <a:schemeClr val="bg1"/>
                </a:solidFill>
                <a:latin typeface="Century Gothic" panose="020B0502020202020204"/>
                <a:ea typeface="+mn-lt"/>
                <a:cs typeface="+mn-lt"/>
              </a:rPr>
              <a:t> 613 students, Fail Rate 11.7%</a:t>
            </a:r>
            <a:endParaRPr lang="en-GB">
              <a:solidFill>
                <a:schemeClr val="bg1"/>
              </a:solidFill>
              <a:latin typeface="Century Gothic" panose="020B0502020202020204"/>
            </a:endParaRPr>
          </a:p>
          <a:p>
            <a:r>
              <a:rPr lang="en-GB" b="1" dirty="0">
                <a:solidFill>
                  <a:schemeClr val="bg1"/>
                </a:solidFill>
                <a:latin typeface="Century Gothic" panose="020B0502020202020204"/>
                <a:ea typeface="+mn-lt"/>
                <a:cs typeface="+mn-lt"/>
              </a:rPr>
              <a:t>Low Attendance (&lt;60%):</a:t>
            </a:r>
            <a:r>
              <a:rPr lang="en-GB" dirty="0">
                <a:solidFill>
                  <a:schemeClr val="bg1"/>
                </a:solidFill>
                <a:latin typeface="Century Gothic" panose="020B0502020202020204"/>
                <a:ea typeface="+mn-lt"/>
                <a:cs typeface="+mn-lt"/>
              </a:rPr>
              <a:t> 166 students, Fail Rate &gt;50%</a:t>
            </a:r>
            <a:endParaRPr lang="en-GB">
              <a:solidFill>
                <a:schemeClr val="bg1"/>
              </a:solidFill>
              <a:latin typeface="Century Gothic" panose="020B0502020202020204"/>
            </a:endParaRPr>
          </a:p>
          <a:p>
            <a:r>
              <a:rPr lang="en-GB" b="1" dirty="0">
                <a:solidFill>
                  <a:schemeClr val="bg1"/>
                </a:solidFill>
                <a:latin typeface="Century Gothic" panose="020B0502020202020204"/>
                <a:ea typeface="+mn-lt"/>
                <a:cs typeface="+mn-lt"/>
              </a:rPr>
              <a:t>Insight: </a:t>
            </a:r>
            <a:r>
              <a:rPr lang="en-GB" dirty="0">
                <a:solidFill>
                  <a:schemeClr val="bg1"/>
                </a:solidFill>
                <a:latin typeface="Century Gothic" panose="020B0502020202020204"/>
                <a:ea typeface="+mn-lt"/>
                <a:cs typeface="+mn-lt"/>
              </a:rPr>
              <a:t>Attendance strongly impacts fail rate</a:t>
            </a:r>
            <a:endParaRPr lang="en-GB">
              <a:solidFill>
                <a:schemeClr val="bg1"/>
              </a:solidFill>
              <a:latin typeface="Century Gothic" panose="020B0502020202020204"/>
            </a:endParaRPr>
          </a:p>
          <a:p>
            <a:r>
              <a:rPr lang="en-GB" dirty="0">
                <a:solidFill>
                  <a:schemeClr val="bg1"/>
                </a:solidFill>
                <a:latin typeface="Century Gothic" panose="020B0502020202020204"/>
                <a:ea typeface="+mn-lt"/>
                <a:cs typeface="+mn-lt"/>
              </a:rPr>
              <a:t>Low attendance is the strongest predictor of failure</a:t>
            </a:r>
            <a:endParaRPr lang="en-GB">
              <a:solidFill>
                <a:schemeClr val="bg1"/>
              </a:solidFill>
              <a:latin typeface="Century Gothic" panose="020B0502020202020204"/>
            </a:endParaRPr>
          </a:p>
          <a:p>
            <a:r>
              <a:rPr lang="en-GB" b="1" dirty="0">
                <a:solidFill>
                  <a:schemeClr val="bg1"/>
                </a:solidFill>
                <a:latin typeface="Century Gothic" panose="020B0502020202020204"/>
                <a:ea typeface="+mn-lt"/>
                <a:cs typeface="+mn-lt"/>
              </a:rPr>
              <a:t>Recommendation:</a:t>
            </a:r>
            <a:r>
              <a:rPr lang="en-GB" dirty="0">
                <a:solidFill>
                  <a:schemeClr val="bg1"/>
                </a:solidFill>
                <a:latin typeface="Century Gothic" panose="020B0502020202020204"/>
                <a:ea typeface="+mn-lt"/>
                <a:cs typeface="+mn-lt"/>
              </a:rPr>
              <a:t> Encourage students to maintain &gt;80% attendance</a:t>
            </a:r>
            <a:endParaRPr lang="en-GB">
              <a:solidFill>
                <a:schemeClr val="bg1"/>
              </a:solidFill>
              <a:latin typeface="Century Gothic" panose="020B0502020202020204"/>
            </a:endParaRPr>
          </a:p>
          <a:p>
            <a:endParaRPr lang="en-GB" sz="2000" dirty="0">
              <a:solidFill>
                <a:schemeClr val="bg1"/>
              </a:solidFill>
              <a:latin typeface="Batang"/>
              <a:ea typeface="Batang"/>
              <a:cs typeface="Angsana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>
          <a:xfrm>
            <a:off x="3551207" y="1122363"/>
            <a:ext cx="5736567" cy="2315714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>
          <a:xfrm>
            <a:off x="3723735" y="3602038"/>
            <a:ext cx="5564038" cy="1655762"/>
          </a:xfrm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/>
          <p:cNvSpPr/>
          <p:nvPr/>
        </p:nvSpPr>
        <p:spPr>
          <a:xfrm>
            <a:off x="1915065" y="329722"/>
            <a:ext cx="8520019" cy="6320284"/>
          </a:xfrm>
          <a:prstGeom prst="roundRect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/>
              <a:t>hhhhjhj</a:t>
            </a:r>
            <a:endParaRPr lang="en-GB" err="1"/>
          </a:p>
        </p:txBody>
      </p:sp>
      <p:sp>
        <p:nvSpPr>
          <p:cNvPr id="5" name="Rectangle: Rounded Corners 4"/>
          <p:cNvSpPr/>
          <p:nvPr/>
        </p:nvSpPr>
        <p:spPr>
          <a:xfrm>
            <a:off x="2511248" y="1753721"/>
            <a:ext cx="7154171" cy="4508735"/>
          </a:xfrm>
          <a:prstGeom prst="roundRect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Bullseye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1255" y="326366"/>
            <a:ext cx="1446361" cy="1403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95278" y="2139668"/>
            <a:ext cx="1046672" cy="7222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sz="4000" dirty="0">
                <a:solidFill>
                  <a:schemeClr val="bg1"/>
                </a:solidFill>
                <a:latin typeface="Comic Sans MS" panose="030F0702030302020204"/>
              </a:rPr>
              <a:t>04</a:t>
            </a:r>
            <a:endParaRPr lang="en-GB" sz="4000" dirty="0">
              <a:solidFill>
                <a:schemeClr val="bg1"/>
              </a:solidFill>
              <a:latin typeface="Comic Sans MS" panose="030F07020303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70358" y="2854704"/>
            <a:ext cx="666821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ea typeface="+mn-lt"/>
                <a:cs typeface="+mn-lt"/>
              </a:rPr>
              <a:t>Study Hours Impact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91445" y="3442259"/>
            <a:ext cx="6826367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ea typeface="+mn-lt"/>
                <a:cs typeface="+mn-lt"/>
              </a:rPr>
              <a:t>20+ hours:</a:t>
            </a: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 71 students, Fail Rate 11.2%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  <a:ea typeface="+mn-lt"/>
                <a:cs typeface="+mn-lt"/>
              </a:rPr>
              <a:t>10–19 hours: </a:t>
            </a: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733 students, Fail Rate 16.5%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  <a:ea typeface="+mn-lt"/>
                <a:cs typeface="+mn-lt"/>
              </a:rPr>
              <a:t>&lt;10 hours:</a:t>
            </a: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 396 students, Fail Rate 19.1%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  <a:ea typeface="+mn-lt"/>
                <a:cs typeface="+mn-lt"/>
              </a:rPr>
              <a:t>Insight:</a:t>
            </a: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 More study hours reduce fail risk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Students with &lt;10 hours study at highest risk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Encourage daily study of 15+ hours</a:t>
            </a:r>
            <a:endParaRPr lang="en-GB" dirty="0">
              <a:solidFill>
                <a:schemeClr val="bg1"/>
              </a:solidFill>
            </a:endParaRPr>
          </a:p>
          <a:p>
            <a:endParaRPr lang="en-GB" sz="2000" dirty="0">
              <a:solidFill>
                <a:schemeClr val="bg1"/>
              </a:solidFill>
              <a:latin typeface="Batang"/>
              <a:ea typeface="Batang"/>
              <a:cs typeface="Angsana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>
          <a:xfrm>
            <a:off x="3551207" y="1122363"/>
            <a:ext cx="5736567" cy="2315714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>
          <a:xfrm>
            <a:off x="3723735" y="3602038"/>
            <a:ext cx="5564038" cy="1655762"/>
          </a:xfrm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/>
          <p:cNvSpPr/>
          <p:nvPr/>
        </p:nvSpPr>
        <p:spPr>
          <a:xfrm>
            <a:off x="1915065" y="329722"/>
            <a:ext cx="8520019" cy="6320284"/>
          </a:xfrm>
          <a:prstGeom prst="roundRect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/>
              <a:t>hhhhjhj</a:t>
            </a:r>
            <a:endParaRPr lang="en-GB" err="1"/>
          </a:p>
        </p:txBody>
      </p:sp>
      <p:sp>
        <p:nvSpPr>
          <p:cNvPr id="5" name="Rectangle: Rounded Corners 4"/>
          <p:cNvSpPr/>
          <p:nvPr/>
        </p:nvSpPr>
        <p:spPr>
          <a:xfrm>
            <a:off x="2511248" y="1753721"/>
            <a:ext cx="7154171" cy="4508735"/>
          </a:xfrm>
          <a:prstGeom prst="roundRect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Bullseye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1255" y="326366"/>
            <a:ext cx="1446361" cy="1403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95278" y="2139668"/>
            <a:ext cx="1046672" cy="7222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sz="4000" dirty="0">
                <a:solidFill>
                  <a:schemeClr val="bg1"/>
                </a:solidFill>
                <a:latin typeface="Comic Sans MS" panose="030F0702030302020204"/>
              </a:rPr>
              <a:t>05</a:t>
            </a:r>
            <a:endParaRPr lang="en-GB" sz="4000" dirty="0">
              <a:solidFill>
                <a:schemeClr val="bg1"/>
              </a:solidFill>
              <a:latin typeface="Comic Sans MS" panose="030F07020303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70358" y="2854704"/>
            <a:ext cx="666821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Aptos ExtraBold"/>
                <a:ea typeface="+mn-lt"/>
                <a:cs typeface="+mn-lt"/>
              </a:rPr>
              <a:t>Attendance + Study Hours</a:t>
            </a:r>
            <a:endParaRPr lang="en-US" dirty="0">
              <a:solidFill>
                <a:schemeClr val="bg1"/>
              </a:solidFill>
              <a:latin typeface="Aptos ExtraBold"/>
              <a:ea typeface="+mn-lt"/>
              <a:cs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77068" y="3125957"/>
            <a:ext cx="6869498" cy="35353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  <a:ea typeface="+mn-lt"/>
                <a:cs typeface="+mn-lt"/>
              </a:rPr>
              <a:t>High Attendance + 10–19 hrs:</a:t>
            </a: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 Fail Rate 11.9%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  <a:ea typeface="+mn-lt"/>
                <a:cs typeface="+mn-lt"/>
              </a:rPr>
              <a:t>High Attendance + &lt;10 hrs:</a:t>
            </a: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 Fail Rate 12.5%</a:t>
            </a:r>
            <a:endParaRPr lang="en-US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GB" sz="2000" b="1" dirty="0">
                <a:solidFill>
                  <a:schemeClr val="bg1"/>
                </a:solidFill>
                <a:ea typeface="+mn-lt"/>
                <a:cs typeface="+mn-lt"/>
              </a:rPr>
              <a:t>Average Attendance + 10–19 hrs:</a:t>
            </a: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 Fail Rate 9.9%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  <a:ea typeface="+mn-lt"/>
                <a:cs typeface="+mn-lt"/>
              </a:rPr>
              <a:t>Average Attendance + 20+ hrs:</a:t>
            </a: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 Fail Rate 10.8%</a:t>
            </a:r>
            <a:endParaRPr lang="en-GB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GB" sz="2000" b="1" dirty="0">
                <a:solidFill>
                  <a:schemeClr val="bg1"/>
                </a:solidFill>
                <a:ea typeface="+mn-lt"/>
                <a:cs typeface="+mn-lt"/>
              </a:rPr>
              <a:t>Low Attendance + &lt;10 hrs:</a:t>
            </a: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 Fail Rate 57.1%</a:t>
            </a:r>
            <a:endParaRPr lang="en-GB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GB" sz="2000" b="1" dirty="0">
                <a:solidFill>
                  <a:schemeClr val="bg1"/>
                </a:solidFill>
                <a:ea typeface="+mn-lt"/>
                <a:cs typeface="+mn-lt"/>
              </a:rPr>
              <a:t>Low Attendance + 10–19 hrs:</a:t>
            </a: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 Fail Rate moderately high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  <a:ea typeface="+mn-lt"/>
                <a:cs typeface="+mn-lt"/>
              </a:rPr>
              <a:t>Insight:</a:t>
            </a: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 Low attendance + low study = highest risk</a:t>
            </a:r>
            <a:endParaRPr lang="en-GB" dirty="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en-GB" sz="2000" b="1" dirty="0">
                <a:solidFill>
                  <a:schemeClr val="bg1"/>
                </a:solidFill>
                <a:ea typeface="+mn-lt"/>
                <a:cs typeface="+mn-lt"/>
              </a:rPr>
              <a:t>Recommendation:</a:t>
            </a: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 Focus interventions on high-risk group</a:t>
            </a:r>
            <a:endParaRPr lang="en-GB" dirty="0">
              <a:solidFill>
                <a:schemeClr val="bg1"/>
              </a:solidFill>
            </a:endParaRPr>
          </a:p>
          <a:p>
            <a:endParaRPr lang="en-GB" sz="2000" dirty="0">
              <a:solidFill>
                <a:schemeClr val="bg1"/>
              </a:solidFill>
            </a:endParaRPr>
          </a:p>
          <a:p>
            <a:endParaRPr lang="en-GB" sz="2000" dirty="0">
              <a:solidFill>
                <a:schemeClr val="bg1"/>
              </a:solidFill>
              <a:latin typeface="Batang"/>
              <a:ea typeface="Batang"/>
              <a:cs typeface="Angsana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ctrTitle"/>
          </p:nvPr>
        </p:nvSpPr>
        <p:spPr>
          <a:xfrm>
            <a:off x="3551207" y="1122363"/>
            <a:ext cx="5736567" cy="2315714"/>
          </a:xfrm>
        </p:spPr>
        <p:txBody>
          <a:bodyPr/>
          <a:lstStyle/>
          <a:p>
            <a:endParaRPr lang="en-GB"/>
          </a:p>
        </p:txBody>
      </p:sp>
      <p:sp>
        <p:nvSpPr>
          <p:cNvPr id="3" name="Subtitle 2" hidden="1"/>
          <p:cNvSpPr>
            <a:spLocks noGrp="1"/>
          </p:cNvSpPr>
          <p:nvPr>
            <p:ph type="subTitle" idx="1"/>
          </p:nvPr>
        </p:nvSpPr>
        <p:spPr>
          <a:xfrm>
            <a:off x="3723735" y="3602038"/>
            <a:ext cx="5564038" cy="1655762"/>
          </a:xfrm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/>
          <p:cNvSpPr/>
          <p:nvPr/>
        </p:nvSpPr>
        <p:spPr>
          <a:xfrm>
            <a:off x="1915065" y="329722"/>
            <a:ext cx="8520019" cy="6320284"/>
          </a:xfrm>
          <a:prstGeom prst="roundRect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err="1"/>
              <a:t>hhhhjhj</a:t>
            </a:r>
            <a:endParaRPr lang="en-GB" err="1"/>
          </a:p>
        </p:txBody>
      </p:sp>
      <p:sp>
        <p:nvSpPr>
          <p:cNvPr id="5" name="Rectangle: Rounded Corners 4"/>
          <p:cNvSpPr/>
          <p:nvPr/>
        </p:nvSpPr>
        <p:spPr>
          <a:xfrm>
            <a:off x="2511248" y="1753721"/>
            <a:ext cx="7154171" cy="4508735"/>
          </a:xfrm>
          <a:prstGeom prst="roundRect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Bullseye with solid fill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1255" y="326366"/>
            <a:ext cx="1446361" cy="14032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95278" y="2139668"/>
            <a:ext cx="1046672" cy="7222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sz="4000" dirty="0">
                <a:solidFill>
                  <a:schemeClr val="bg1"/>
                </a:solidFill>
                <a:latin typeface="Comic Sans MS" panose="030F0702030302020204"/>
              </a:rPr>
              <a:t>06</a:t>
            </a:r>
            <a:endParaRPr lang="en-GB" sz="4000" dirty="0">
              <a:solidFill>
                <a:schemeClr val="bg1"/>
              </a:solidFill>
              <a:latin typeface="Comic Sans MS" panose="030F07020303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70358" y="2854704"/>
            <a:ext cx="666821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Aptos ExtraBold"/>
                <a:ea typeface="+mn-lt"/>
                <a:cs typeface="+mn-lt"/>
              </a:rPr>
              <a:t>Insights &amp; Action Points</a:t>
            </a:r>
            <a:endParaRPr lang="en-US" dirty="0">
              <a:solidFill>
                <a:schemeClr val="bg1"/>
              </a:solidFill>
              <a:latin typeface="Aptos Extra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91445" y="3399127"/>
            <a:ext cx="686949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342900" indent="-342900">
              <a:buFont typeface="Arial" panose="020B0604020202020204"/>
              <a:buChar char="•"/>
            </a:pP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Attendance &amp; study hours strongly affect fail rate</a:t>
            </a: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Low attendance students have highest fail risk</a:t>
            </a: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Students with &lt;15 study hours daily are vulnerable</a:t>
            </a: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Encourage &gt;80% attendance &amp; &gt;15 hrs study daily</a:t>
            </a: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Focus on high-risk students for support &amp; guidance</a:t>
            </a: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Use dashboard for detailed factors: LMS login, assignments, travel, parent education, part-time jobs</a:t>
            </a: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GB" sz="2000" dirty="0">
                <a:solidFill>
                  <a:schemeClr val="bg1"/>
                </a:solidFill>
                <a:ea typeface="+mn-lt"/>
                <a:cs typeface="+mn-lt"/>
              </a:rPr>
              <a:t>Monitor progress regularly to reduce fail rate</a:t>
            </a:r>
            <a:endParaRPr lang="en-GB" sz="200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/>
              <a:buChar char="•"/>
            </a:pPr>
            <a:endParaRPr lang="en-GB" sz="2000" dirty="0">
              <a:solidFill>
                <a:schemeClr val="bg1"/>
              </a:solidFill>
              <a:latin typeface="Aptos"/>
              <a:ea typeface="Batang"/>
              <a:cs typeface="Angsana New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1808</Words>
  <Application>WPS Presentation</Application>
  <PresentationFormat>Widescreen</PresentationFormat>
  <Paragraphs>90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6" baseType="lpstr">
      <vt:lpstr>Arial</vt:lpstr>
      <vt:lpstr>SimSun</vt:lpstr>
      <vt:lpstr>Wingdings</vt:lpstr>
      <vt:lpstr>Comic Sans MS</vt:lpstr>
      <vt:lpstr>Aptos ExtraBold</vt:lpstr>
      <vt:lpstr>Franklin Gothic Demi</vt:lpstr>
      <vt:lpstr>Century Gothic</vt:lpstr>
      <vt:lpstr>Arial</vt:lpstr>
      <vt:lpstr>Calibri</vt:lpstr>
      <vt:lpstr>Batang</vt:lpstr>
      <vt:lpstr>Angsana New</vt:lpstr>
      <vt:lpstr>Aptos</vt:lpstr>
      <vt:lpstr>Segoe UI</vt:lpstr>
      <vt:lpstr>Microsoft YaHei</vt:lpstr>
      <vt:lpstr>Arial Unicode MS</vt:lpstr>
      <vt:lpstr>Aptos Display</vt:lpstr>
      <vt:lpstr>Constantia</vt:lpstr>
      <vt:lpstr>Aptos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anasaftab anasaftab</cp:lastModifiedBy>
  <cp:revision>410</cp:revision>
  <dcterms:created xsi:type="dcterms:W3CDTF">2026-02-26T06:42:00Z</dcterms:created>
  <dcterms:modified xsi:type="dcterms:W3CDTF">2026-03-01T11:30:42Z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CEBFEB1D2FD24F09A688337E6A672130_12</vt:lpwstr>
  </property>
  <property fmtid="{D5CDD505-2E9C-101B-9397-08002B2CF9AE}" pid="3" name="KSOProductBuildVer">
    <vt:lpwstr>2057-12.2.0.23196</vt:lpwstr>
  </property>
</Properties>
</file>